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etropix" charset="1" panose="00000000000000000000"/>
      <p:regular r:id="rId21"/>
    </p:embeddedFont>
    <p:embeddedFont>
      <p:font typeface="Akzidenz-Grotesk" charset="1" panose="02000503030000020003"/>
      <p:regular r:id="rId22"/>
    </p:embeddedFont>
    <p:embeddedFont>
      <p:font typeface="Akzidenz-Grotesk Bold" charset="1" panose="0200080305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0B2B7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68222" y="3248264"/>
            <a:ext cx="12951557" cy="281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8"/>
              </a:lnSpc>
            </a:pPr>
            <a:r>
              <a:rPr lang="en-US" sz="11605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INSURANCE CENTRE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68222" y="6585629"/>
            <a:ext cx="12951557" cy="58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4200" spc="768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GAMIFY INSURANCE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0B2B7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03318" y="2620612"/>
            <a:ext cx="13216460" cy="89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1"/>
              </a:lnSpc>
            </a:pPr>
            <a:r>
              <a:rPr lang="en-US" sz="6489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TEAM: I DON’T KNOW I LOST A SHOE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35770" y="4017645"/>
            <a:ext cx="12951557" cy="212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460"/>
              </a:lnSpc>
              <a:buAutoNum type="arabicPeriod" startAt="1"/>
            </a:pPr>
            <a:r>
              <a:rPr lang="en-US" sz="4200" spc="71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Tee Zhi Hong </a:t>
            </a:r>
          </a:p>
          <a:p>
            <a:pPr algn="l" marL="906780" indent="-453390" lvl="1">
              <a:lnSpc>
                <a:spcPts val="5460"/>
              </a:lnSpc>
              <a:buAutoNum type="arabicPeriod" startAt="1"/>
            </a:pPr>
            <a:r>
              <a:rPr lang="en-US" sz="4200" spc="71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Tai Gar Yee </a:t>
            </a:r>
          </a:p>
          <a:p>
            <a:pPr algn="l" marL="906780" indent="-453390" lvl="1">
              <a:lnSpc>
                <a:spcPts val="5460"/>
              </a:lnSpc>
              <a:buAutoNum type="arabicPeriod" startAt="1"/>
            </a:pPr>
            <a:r>
              <a:rPr lang="en-US" sz="4200" spc="71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Raymond Lee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854596"/>
            <a:ext cx="7553373" cy="323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5"/>
              </a:lnSpc>
            </a:pPr>
            <a:r>
              <a:rPr lang="en-US" sz="7955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TABLE</a:t>
            </a:r>
          </a:p>
          <a:p>
            <a:pPr algn="l">
              <a:lnSpc>
                <a:spcPts val="7955"/>
              </a:lnSpc>
            </a:pPr>
            <a:r>
              <a:rPr lang="en-US" sz="7955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OF</a:t>
            </a:r>
          </a:p>
          <a:p>
            <a:pPr algn="l" marL="0" indent="0" lvl="0">
              <a:lnSpc>
                <a:spcPts val="7955"/>
              </a:lnSpc>
            </a:pPr>
            <a:r>
              <a:rPr lang="en-US" sz="7955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CONTENTS_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097483" y="1130732"/>
            <a:ext cx="9161817" cy="4493489"/>
            <a:chOff x="0" y="0"/>
            <a:chExt cx="2412989" cy="11834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2989" cy="1183470"/>
            </a:xfrm>
            <a:custGeom>
              <a:avLst/>
              <a:gdLst/>
              <a:ahLst/>
              <a:cxnLst/>
              <a:rect r="r" b="b" t="t" l="l"/>
              <a:pathLst>
                <a:path h="1183470" w="2412989">
                  <a:moveTo>
                    <a:pt x="0" y="0"/>
                  </a:moveTo>
                  <a:lnTo>
                    <a:pt x="2412989" y="0"/>
                  </a:lnTo>
                  <a:lnTo>
                    <a:pt x="2412989" y="1183470"/>
                  </a:lnTo>
                  <a:lnTo>
                    <a:pt x="0" y="1183470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412989" cy="1173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97483" y="1130732"/>
            <a:ext cx="9161817" cy="780061"/>
            <a:chOff x="0" y="0"/>
            <a:chExt cx="2412989" cy="205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2989" cy="205448"/>
            </a:xfrm>
            <a:custGeom>
              <a:avLst/>
              <a:gdLst/>
              <a:ahLst/>
              <a:cxnLst/>
              <a:rect r="r" b="b" t="t" l="l"/>
              <a:pathLst>
                <a:path h="205448" w="2412989">
                  <a:moveTo>
                    <a:pt x="0" y="0"/>
                  </a:moveTo>
                  <a:lnTo>
                    <a:pt x="2412989" y="0"/>
                  </a:lnTo>
                  <a:lnTo>
                    <a:pt x="2412989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A0CEC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412989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82073" y="4390016"/>
            <a:ext cx="2098247" cy="104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2"/>
              </a:lnSpc>
              <a:spcBef>
                <a:spcPct val="0"/>
              </a:spcBef>
            </a:pPr>
            <a:r>
              <a:rPr lang="en-US" sz="6852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_</a:t>
            </a:r>
            <a:r>
              <a:rPr lang="en-US" sz="6852" strike="noStrike" u="none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595666" y="5439376"/>
            <a:ext cx="1582686" cy="1582686"/>
          </a:xfrm>
          <a:custGeom>
            <a:avLst/>
            <a:gdLst/>
            <a:ahLst/>
            <a:cxnLst/>
            <a:rect r="r" b="b" t="t" l="l"/>
            <a:pathLst>
              <a:path h="1582686" w="1582686">
                <a:moveTo>
                  <a:pt x="0" y="0"/>
                </a:moveTo>
                <a:lnTo>
                  <a:pt x="1582686" y="0"/>
                </a:lnTo>
                <a:lnTo>
                  <a:pt x="1582686" y="1582686"/>
                </a:lnTo>
                <a:lnTo>
                  <a:pt x="0" y="1582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582073" y="2107681"/>
            <a:ext cx="2098247" cy="104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2"/>
              </a:lnSpc>
              <a:spcBef>
                <a:spcPct val="0"/>
              </a:spcBef>
            </a:pPr>
            <a:r>
              <a:rPr lang="en-US" sz="6852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_</a:t>
            </a:r>
            <a:r>
              <a:rPr lang="en-US" sz="6852" strike="noStrike" u="none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82073" y="3248849"/>
            <a:ext cx="2098247" cy="104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2"/>
              </a:lnSpc>
              <a:spcBef>
                <a:spcPct val="0"/>
              </a:spcBef>
            </a:pPr>
            <a:r>
              <a:rPr lang="en-US" sz="6852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_</a:t>
            </a:r>
            <a:r>
              <a:rPr lang="en-US" sz="6852" strike="noStrike" u="none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32347" y="2421477"/>
            <a:ext cx="6462511" cy="4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4"/>
              </a:lnSpc>
              <a:spcBef>
                <a:spcPct val="0"/>
              </a:spcBef>
            </a:pPr>
            <a:r>
              <a:rPr lang="en-US" sz="3600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32347" y="3562645"/>
            <a:ext cx="6462511" cy="4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4"/>
              </a:lnSpc>
              <a:spcBef>
                <a:spcPct val="0"/>
              </a:spcBef>
            </a:pPr>
            <a:r>
              <a:rPr lang="en-US" sz="3600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SOLUTION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32347" y="4703812"/>
            <a:ext cx="6462511" cy="4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4"/>
              </a:lnSpc>
              <a:spcBef>
                <a:spcPct val="0"/>
              </a:spcBef>
            </a:pPr>
            <a:r>
              <a:rPr lang="en-US" sz="3600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TECH STACK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665719"/>
            <a:chOff x="0" y="0"/>
            <a:chExt cx="4274726" cy="2282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282329"/>
            </a:xfrm>
            <a:custGeom>
              <a:avLst/>
              <a:gdLst/>
              <a:ahLst/>
              <a:cxnLst/>
              <a:rect r="r" b="b" t="t" l="l"/>
              <a:pathLst>
                <a:path h="228232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82329"/>
                  </a:lnTo>
                  <a:lnTo>
                    <a:pt x="0" y="2282329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27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DAF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02860" y="2536568"/>
            <a:ext cx="8680819" cy="89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49"/>
              </a:lnSpc>
              <a:spcBef>
                <a:spcPct val="0"/>
              </a:spcBef>
            </a:pPr>
            <a:r>
              <a:rPr lang="en-US" sz="6487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1930" y="3800500"/>
            <a:ext cx="15064141" cy="142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856" indent="-374428" lvl="1">
              <a:lnSpc>
                <a:spcPts val="5584"/>
              </a:lnSpc>
              <a:buAutoNum type="arabicPeriod" startAt="1"/>
            </a:pPr>
            <a:r>
              <a:rPr lang="en-US" sz="3468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Low Insurance Awareness and Protection Coverage Among Malaysians</a:t>
            </a:r>
          </a:p>
          <a:p>
            <a:pPr algn="l" marL="748856" indent="-374428" lvl="1">
              <a:lnSpc>
                <a:spcPts val="5584"/>
              </a:lnSpc>
              <a:buAutoNum type="arabicPeriod" startAt="1"/>
            </a:pPr>
            <a:r>
              <a:rPr lang="en-US" sz="3468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Inefficient Client Relationship Management for Insurance Advisors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665719"/>
            <a:chOff x="0" y="0"/>
            <a:chExt cx="4274726" cy="2282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282329"/>
            </a:xfrm>
            <a:custGeom>
              <a:avLst/>
              <a:gdLst/>
              <a:ahLst/>
              <a:cxnLst/>
              <a:rect r="r" b="b" t="t" l="l"/>
              <a:pathLst>
                <a:path h="228232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82329"/>
                  </a:lnTo>
                  <a:lnTo>
                    <a:pt x="0" y="2282329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27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DAF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46792" y="2309997"/>
            <a:ext cx="14792955" cy="135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3"/>
              </a:lnSpc>
              <a:spcBef>
                <a:spcPct val="0"/>
              </a:spcBef>
            </a:pPr>
            <a:r>
              <a:rPr lang="en-US" sz="5587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PROBLEM #1: LOW INSURANCE AWARENESS AND PROTECTION COVERAGE AMONG MALAYSIANS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2554" y="3984671"/>
            <a:ext cx="16026746" cy="508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295" indent="-314147" lvl="1">
              <a:lnSpc>
                <a:spcPts val="4481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Only 45.5% of Malaysians have at least one life insurance or family takaful policy </a:t>
            </a:r>
          </a:p>
          <a:p>
            <a:pPr algn="l" marL="1256590" indent="-418863" lvl="2">
              <a:lnSpc>
                <a:spcPts val="4481"/>
              </a:lnSpc>
              <a:buFont typeface="Arial"/>
              <a:buChar char="⚬"/>
            </a:pP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</a:t>
            </a: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ore than half of the population remains financially unprotected against major life events such as illness, disability, or death.</a:t>
            </a:r>
          </a:p>
          <a:p>
            <a:pPr algn="l" marL="628295" indent="-314147" lvl="1">
              <a:lnSpc>
                <a:spcPts val="4481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</a:t>
            </a: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nly 28% of Malaysians are confident in their insurance knowledge, </a:t>
            </a:r>
          </a:p>
          <a:p>
            <a:pPr algn="l" marL="1256590" indent="-418863" lvl="2">
              <a:lnSpc>
                <a:spcPts val="4481"/>
              </a:lnSpc>
              <a:buFont typeface="Arial"/>
              <a:buChar char="⚬"/>
            </a:pP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</a:t>
            </a: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ow understanding of insurance products remains a key barrier to adoption and informed decision-making.</a:t>
            </a:r>
          </a:p>
          <a:p>
            <a:pPr algn="l" marL="628295" indent="-314147" lvl="1">
              <a:lnSpc>
                <a:spcPts val="4481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Evi</a:t>
            </a: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dence: Bank Negara Malaysia / Life Insurance Association of Malaysia (2024), Business Today Malaysia Insurance Literacy Survey (2024).</a:t>
            </a:r>
          </a:p>
          <a:p>
            <a:pPr algn="l">
              <a:lnSpc>
                <a:spcPts val="448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665719"/>
            <a:chOff x="0" y="0"/>
            <a:chExt cx="4274726" cy="2282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282329"/>
            </a:xfrm>
            <a:custGeom>
              <a:avLst/>
              <a:gdLst/>
              <a:ahLst/>
              <a:cxnLst/>
              <a:rect r="r" b="b" t="t" l="l"/>
              <a:pathLst>
                <a:path h="228232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82329"/>
                  </a:lnTo>
                  <a:lnTo>
                    <a:pt x="0" y="2282329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27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DAF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7746" y="2310420"/>
            <a:ext cx="15507112" cy="135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3"/>
              </a:lnSpc>
              <a:spcBef>
                <a:spcPct val="0"/>
              </a:spcBef>
            </a:pPr>
            <a:r>
              <a:rPr lang="en-US" sz="5587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PROBLEM #2: INEFFICIENT CLIENT RELATIONSHIP MANAGEMENT FOR INSURANCE ADVISORS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0627" y="3946994"/>
            <a:ext cx="16026746" cy="437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295" indent="-314147" lvl="1">
              <a:lnSpc>
                <a:spcPts val="4830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Advisors manage client data, policies, follow-ups, referrals, and learning resources across multiple disconnected systems.</a:t>
            </a:r>
          </a:p>
          <a:p>
            <a:pPr algn="l" marL="1256590" indent="-418863" lvl="2">
              <a:lnSpc>
                <a:spcPts val="4830"/>
              </a:lnSpc>
              <a:buFont typeface="Arial"/>
              <a:buChar char="⚬"/>
            </a:pP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</a:t>
            </a: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educing productivity and increasing the risk of missed opportunities.</a:t>
            </a:r>
          </a:p>
          <a:p>
            <a:pPr algn="l" marL="628295" indent="-314147" lvl="1">
              <a:lnSpc>
                <a:spcPts val="4830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Most client interactions occur during policy purchase, renewal, or claims.</a:t>
            </a:r>
          </a:p>
          <a:p>
            <a:pPr algn="l" marL="1256590" indent="-418863" lvl="2">
              <a:lnSpc>
                <a:spcPts val="4830"/>
              </a:lnSpc>
              <a:buFont typeface="Arial"/>
              <a:buChar char="⚬"/>
            </a:pP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</a:t>
            </a:r>
            <a:r>
              <a:rPr lang="en-US" sz="291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imiting continuous engagement that could improve client retention and increase insurance coverage.</a:t>
            </a:r>
          </a:p>
          <a:p>
            <a:pPr algn="l">
              <a:lnSpc>
                <a:spcPts val="628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08077" y="-131309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2" y="0"/>
                </a:lnTo>
                <a:lnTo>
                  <a:pt x="95888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E782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02831" y="4642012"/>
            <a:ext cx="9991775" cy="99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87"/>
              </a:lnSpc>
            </a:pPr>
            <a:r>
              <a:rPr lang="en-US" sz="6487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EXISTING SOLUTIONS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08077" y="-131309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2" y="0"/>
                </a:lnTo>
                <a:lnTo>
                  <a:pt x="95888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999423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E782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363" y="2237439"/>
            <a:ext cx="14792955" cy="76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3"/>
              </a:lnSpc>
              <a:spcBef>
                <a:spcPct val="0"/>
              </a:spcBef>
            </a:pPr>
            <a:r>
              <a:rPr lang="en-US" sz="5587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SOLUTION #1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4363" y="3066883"/>
            <a:ext cx="15014541" cy="101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  <a:spcBef>
                <a:spcPct val="0"/>
              </a:spcBef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Existing Solutions: Insurance Textbook, Online Calculators, Financial Literacy Campaigns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1480" y="4443281"/>
            <a:ext cx="15265039" cy="194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Problem: </a:t>
            </a:r>
          </a:p>
          <a:p>
            <a:pPr algn="just" marL="729270" indent="-364635" lvl="1">
              <a:lnSpc>
                <a:spcPts val="3715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Generic, non-personalised education</a:t>
            </a:r>
          </a:p>
          <a:p>
            <a:pPr algn="just" marL="729270" indent="-364635" lvl="1">
              <a:lnSpc>
                <a:spcPts val="3715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Insurance remains complex and hard to understand</a:t>
            </a:r>
          </a:p>
          <a:p>
            <a:pPr algn="just" marL="729270" indent="-364635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Low trust + reactive adoption only during crises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08077" y="-131309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2" y="0"/>
                </a:lnTo>
                <a:lnTo>
                  <a:pt x="95888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999423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E782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363" y="2237439"/>
            <a:ext cx="14792955" cy="76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3"/>
              </a:lnSpc>
              <a:spcBef>
                <a:spcPct val="0"/>
              </a:spcBef>
            </a:pPr>
            <a:r>
              <a:rPr lang="en-US" sz="5587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SOLUTION #2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5797" y="3216789"/>
            <a:ext cx="15219060" cy="101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  <a:spcBef>
                <a:spcPct val="0"/>
              </a:spcBef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Existing Solution: Annual Policy Reviews, Renewal Reminders, Mass Email/SMS Campaigns, Customer Service Hotlines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9818" y="4450312"/>
            <a:ext cx="15265039" cy="241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Problem: </a:t>
            </a:r>
          </a:p>
          <a:p>
            <a:pPr algn="just" marL="729270" indent="-364635" lvl="1">
              <a:lnSpc>
                <a:spcPts val="3715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Eve</a:t>
            </a: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nt-based engagement only</a:t>
            </a:r>
          </a:p>
          <a:p>
            <a:pPr algn="just" marL="729270" indent="-364635" lvl="1">
              <a:lnSpc>
                <a:spcPts val="3715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No life-event awareness</a:t>
            </a:r>
          </a:p>
          <a:p>
            <a:pPr algn="just" marL="729270" indent="-364635" lvl="1">
              <a:lnSpc>
                <a:spcPts val="3715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Generic communication</a:t>
            </a:r>
          </a:p>
          <a:p>
            <a:pPr algn="just" marL="729270" indent="-364635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Weak ecosystem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-241276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DAF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50440" y="4356824"/>
            <a:ext cx="6444417" cy="4020252"/>
          </a:xfrm>
          <a:custGeom>
            <a:avLst/>
            <a:gdLst/>
            <a:ahLst/>
            <a:cxnLst/>
            <a:rect r="r" b="b" t="t" l="l"/>
            <a:pathLst>
              <a:path h="4020252" w="6444417">
                <a:moveTo>
                  <a:pt x="0" y="0"/>
                </a:moveTo>
                <a:lnTo>
                  <a:pt x="6444418" y="0"/>
                </a:lnTo>
                <a:lnTo>
                  <a:pt x="6444418" y="4020252"/>
                </a:lnTo>
                <a:lnTo>
                  <a:pt x="0" y="40202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339" t="-4574" r="-15339" b="-972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119640" y="2160218"/>
            <a:ext cx="8048720" cy="896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9"/>
              </a:lnSpc>
              <a:spcBef>
                <a:spcPct val="0"/>
              </a:spcBef>
            </a:pPr>
            <a:r>
              <a:rPr lang="en-US" sz="6487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OUR 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57493" y="2972938"/>
            <a:ext cx="14349825" cy="836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b="true" sz="3859" spc="-115">
                <a:solidFill>
                  <a:srgbClr val="737373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Introducing Insurance Centre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5802" y="4440501"/>
            <a:ext cx="8736010" cy="381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9270" indent="-364635" lvl="1">
              <a:lnSpc>
                <a:spcPts val="3715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Web-based application that gamifies insurance knowlegde for potential clients</a:t>
            </a:r>
          </a:p>
          <a:p>
            <a:pPr algn="l" marL="729270" indent="-364635" lvl="1">
              <a:lnSpc>
                <a:spcPts val="3715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Targets users who are young and not knowledgable in insurance</a:t>
            </a:r>
          </a:p>
          <a:p>
            <a:pPr algn="l" marL="729270" indent="-364635" lvl="1">
              <a:lnSpc>
                <a:spcPts val="3715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Makes insurance agents easiler to handle clients. </a:t>
            </a:r>
          </a:p>
          <a:p>
            <a:pPr algn="l" marL="729270" indent="-364635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Use generative AI tools to solve problems faced in the insurance industry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373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2216996" y="3336199"/>
            <a:ext cx="5402792" cy="6180556"/>
            <a:chOff x="0" y="0"/>
            <a:chExt cx="1422958" cy="16278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2958" cy="1627801"/>
            </a:xfrm>
            <a:custGeom>
              <a:avLst/>
              <a:gdLst/>
              <a:ahLst/>
              <a:cxnLst/>
              <a:rect r="r" b="b" t="t" l="l"/>
              <a:pathLst>
                <a:path h="1627801" w="1422958">
                  <a:moveTo>
                    <a:pt x="0" y="0"/>
                  </a:moveTo>
                  <a:lnTo>
                    <a:pt x="1422958" y="0"/>
                  </a:lnTo>
                  <a:lnTo>
                    <a:pt x="1422958" y="1627801"/>
                  </a:lnTo>
                  <a:lnTo>
                    <a:pt x="0" y="162780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422958" cy="161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8337" y="3336199"/>
            <a:ext cx="5402792" cy="6180556"/>
            <a:chOff x="0" y="0"/>
            <a:chExt cx="1422958" cy="16278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2958" cy="1627801"/>
            </a:xfrm>
            <a:custGeom>
              <a:avLst/>
              <a:gdLst/>
              <a:ahLst/>
              <a:cxnLst/>
              <a:rect r="r" b="b" t="t" l="l"/>
              <a:pathLst>
                <a:path h="1627801" w="1422958">
                  <a:moveTo>
                    <a:pt x="0" y="0"/>
                  </a:moveTo>
                  <a:lnTo>
                    <a:pt x="1422958" y="0"/>
                  </a:lnTo>
                  <a:lnTo>
                    <a:pt x="1422958" y="1627801"/>
                  </a:lnTo>
                  <a:lnTo>
                    <a:pt x="0" y="162780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422958" cy="161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16996" y="2768027"/>
            <a:ext cx="5402792" cy="780061"/>
            <a:chOff x="0" y="0"/>
            <a:chExt cx="1422958" cy="205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2958" cy="205448"/>
            </a:xfrm>
            <a:custGeom>
              <a:avLst/>
              <a:gdLst/>
              <a:ahLst/>
              <a:cxnLst/>
              <a:rect r="r" b="b" t="t" l="l"/>
              <a:pathLst>
                <a:path h="205448" w="1422958">
                  <a:moveTo>
                    <a:pt x="0" y="0"/>
                  </a:moveTo>
                  <a:lnTo>
                    <a:pt x="1422958" y="0"/>
                  </a:lnTo>
                  <a:lnTo>
                    <a:pt x="1422958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DAF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422958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8337" y="2768027"/>
            <a:ext cx="5402792" cy="780061"/>
            <a:chOff x="0" y="0"/>
            <a:chExt cx="1422958" cy="2054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22958" cy="205448"/>
            </a:xfrm>
            <a:custGeom>
              <a:avLst/>
              <a:gdLst/>
              <a:ahLst/>
              <a:cxnLst/>
              <a:rect r="r" b="b" t="t" l="l"/>
              <a:pathLst>
                <a:path h="205448" w="1422958">
                  <a:moveTo>
                    <a:pt x="0" y="0"/>
                  </a:moveTo>
                  <a:lnTo>
                    <a:pt x="1422958" y="0"/>
                  </a:lnTo>
                  <a:lnTo>
                    <a:pt x="1422958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0B2B7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422958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980266" y="2927732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79" y="0"/>
                </a:lnTo>
                <a:lnTo>
                  <a:pt x="1375079" y="460651"/>
                </a:lnTo>
                <a:lnTo>
                  <a:pt x="0" y="4606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431607" y="2927732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79" y="0"/>
                </a:lnTo>
                <a:lnTo>
                  <a:pt x="1375079" y="460651"/>
                </a:lnTo>
                <a:lnTo>
                  <a:pt x="0" y="4606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655021" y="3983257"/>
            <a:ext cx="4604279" cy="110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</a:pPr>
            <a:r>
              <a:rPr lang="en-US" sz="3648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AGENT SITE ARCHITECTURE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984655" y="4063078"/>
            <a:ext cx="788482" cy="776655"/>
          </a:xfrm>
          <a:custGeom>
            <a:avLst/>
            <a:gdLst/>
            <a:ahLst/>
            <a:cxnLst/>
            <a:rect r="r" b="b" t="t" l="l"/>
            <a:pathLst>
              <a:path h="776655" w="788482">
                <a:moveTo>
                  <a:pt x="0" y="0"/>
                </a:moveTo>
                <a:lnTo>
                  <a:pt x="788482" y="0"/>
                </a:lnTo>
                <a:lnTo>
                  <a:pt x="788482" y="776654"/>
                </a:lnTo>
                <a:lnTo>
                  <a:pt x="0" y="776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30518" y="8473182"/>
            <a:ext cx="4578661" cy="606673"/>
          </a:xfrm>
          <a:custGeom>
            <a:avLst/>
            <a:gdLst/>
            <a:ahLst/>
            <a:cxnLst/>
            <a:rect r="r" b="b" t="t" l="l"/>
            <a:pathLst>
              <a:path h="606673" w="4578661">
                <a:moveTo>
                  <a:pt x="0" y="0"/>
                </a:moveTo>
                <a:lnTo>
                  <a:pt x="4578661" y="0"/>
                </a:lnTo>
                <a:lnTo>
                  <a:pt x="4578661" y="606672"/>
                </a:lnTo>
                <a:lnTo>
                  <a:pt x="0" y="6066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96837" y="3983257"/>
            <a:ext cx="4536142" cy="110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</a:pPr>
            <a:r>
              <a:rPr lang="en-US" sz="3648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MEMBER SITE ARCHITECTURE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71426" y="4116607"/>
            <a:ext cx="11345148" cy="166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6"/>
              </a:lnSpc>
            </a:pPr>
            <a:r>
              <a:rPr lang="en-US" sz="6852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CORE </a:t>
            </a:r>
          </a:p>
          <a:p>
            <a:pPr algn="ctr" marL="0" indent="0" lvl="0">
              <a:lnSpc>
                <a:spcPts val="5756"/>
              </a:lnSpc>
              <a:spcBef>
                <a:spcPct val="0"/>
              </a:spcBef>
            </a:pPr>
            <a:r>
              <a:rPr lang="en-US" sz="6852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FEATURE</a:t>
            </a:r>
            <a:r>
              <a:rPr lang="en-US" sz="6852" strike="noStrike" u="none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6837" y="5393531"/>
            <a:ext cx="4613804" cy="278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659" spc="-79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Solves Problem #1 </a:t>
            </a:r>
          </a:p>
          <a:p>
            <a:pPr algn="l" marL="1148226" indent="-382742" lvl="2">
              <a:lnSpc>
                <a:spcPts val="4361"/>
              </a:lnSpc>
              <a:buFont typeface="Arial"/>
              <a:buChar char="⚬"/>
            </a:pPr>
            <a:r>
              <a:rPr lang="en-US" sz="2659" spc="-79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Pokemon card like game for young users to learn more about insurance.</a:t>
            </a:r>
          </a:p>
          <a:p>
            <a:pPr algn="l">
              <a:lnSpc>
                <a:spcPts val="436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645496" y="5393613"/>
            <a:ext cx="4613804" cy="278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659" spc="-79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Solves Problem #2 </a:t>
            </a:r>
          </a:p>
          <a:p>
            <a:pPr algn="l" marL="1148226" indent="-382742" lvl="2">
              <a:lnSpc>
                <a:spcPts val="4361"/>
              </a:lnSpc>
              <a:buFont typeface="Arial"/>
              <a:buChar char="⚬"/>
            </a:pPr>
            <a:r>
              <a:rPr lang="en-US" sz="2659" spc="-79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Providing an agent dashboard for insurance agents</a:t>
            </a:r>
          </a:p>
          <a:p>
            <a:pPr algn="l">
              <a:lnSpc>
                <a:spcPts val="436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DAF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19640" y="4738027"/>
            <a:ext cx="8048720" cy="896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9"/>
              </a:lnSpc>
              <a:spcBef>
                <a:spcPct val="0"/>
              </a:spcBef>
            </a:pPr>
            <a:r>
              <a:rPr lang="en-US" sz="6487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PRODUCT DEMO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273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08077" y="-131309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2" y="0"/>
                </a:lnTo>
                <a:lnTo>
                  <a:pt x="95888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0B2B7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18825" y="4340194"/>
            <a:ext cx="6267643" cy="1812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7"/>
              </a:lnSpc>
            </a:pPr>
            <a:r>
              <a:rPr lang="en-US" sz="6487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OUR TECH 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46061" y="3010372"/>
            <a:ext cx="3214304" cy="93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26"/>
              </a:lnSpc>
            </a:pPr>
            <a:r>
              <a:rPr lang="en-US" sz="3326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NEXT.JS 16, (TYPESCRIPT)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69813" y="7208072"/>
            <a:ext cx="3214304" cy="135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26"/>
              </a:lnSpc>
            </a:pPr>
            <a:r>
              <a:rPr lang="en-US" sz="3326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NEXT.JS API ROUTES (BACKEND)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42921" y="2800330"/>
            <a:ext cx="3214304" cy="135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326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GOOGLE GEMINI 2.0 FLASH </a:t>
            </a:r>
          </a:p>
          <a:p>
            <a:pPr algn="l" marL="0" indent="0" lvl="0">
              <a:lnSpc>
                <a:spcPts val="3326"/>
              </a:lnSpc>
            </a:pPr>
            <a:r>
              <a:rPr lang="en-US" sz="3326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(AI AGENTS)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42921" y="4649968"/>
            <a:ext cx="3214304" cy="219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</a:p>
          <a:p>
            <a:pPr algn="l">
              <a:lnSpc>
                <a:spcPts val="3326"/>
              </a:lnSpc>
            </a:pPr>
            <a:r>
              <a:rPr lang="en-US" sz="3326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J</a:t>
            </a:r>
            <a:r>
              <a:rPr lang="en-US" sz="3326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SON MOCK </a:t>
            </a:r>
          </a:p>
          <a:p>
            <a:pPr algn="l">
              <a:lnSpc>
                <a:spcPts val="3326"/>
              </a:lnSpc>
            </a:pPr>
            <a:r>
              <a:rPr lang="en-US" sz="3326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DATA (DATABASE)</a:t>
            </a:r>
          </a:p>
          <a:p>
            <a:pPr algn="l" marL="0" indent="0" lvl="0">
              <a:lnSpc>
                <a:spcPts val="332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546061" y="5280096"/>
            <a:ext cx="3633894" cy="93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326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TAILWIND CSS </a:t>
            </a:r>
          </a:p>
          <a:p>
            <a:pPr algn="l" marL="0" indent="0" lvl="0">
              <a:lnSpc>
                <a:spcPts val="3326"/>
              </a:lnSpc>
            </a:pPr>
            <a:r>
              <a:rPr lang="en-US" sz="3326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(STYLING)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7179860" y="1910794"/>
            <a:ext cx="0" cy="7260786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688808" y="2725954"/>
            <a:ext cx="1661948" cy="1273468"/>
          </a:xfrm>
          <a:custGeom>
            <a:avLst/>
            <a:gdLst/>
            <a:ahLst/>
            <a:cxnLst/>
            <a:rect r="r" b="b" t="t" l="l"/>
            <a:pathLst>
              <a:path h="1273468" w="1661948">
                <a:moveTo>
                  <a:pt x="0" y="0"/>
                </a:moveTo>
                <a:lnTo>
                  <a:pt x="1661948" y="0"/>
                </a:lnTo>
                <a:lnTo>
                  <a:pt x="1661948" y="1273468"/>
                </a:lnTo>
                <a:lnTo>
                  <a:pt x="0" y="1273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912560" y="7133696"/>
            <a:ext cx="1661948" cy="1273468"/>
          </a:xfrm>
          <a:custGeom>
            <a:avLst/>
            <a:gdLst/>
            <a:ahLst/>
            <a:cxnLst/>
            <a:rect r="r" b="b" t="t" l="l"/>
            <a:pathLst>
              <a:path h="1273468" w="1661948">
                <a:moveTo>
                  <a:pt x="0" y="0"/>
                </a:moveTo>
                <a:lnTo>
                  <a:pt x="1661948" y="0"/>
                </a:lnTo>
                <a:lnTo>
                  <a:pt x="1661948" y="1273468"/>
                </a:lnTo>
                <a:lnTo>
                  <a:pt x="0" y="1273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688808" y="4990022"/>
            <a:ext cx="1661948" cy="1273468"/>
          </a:xfrm>
          <a:custGeom>
            <a:avLst/>
            <a:gdLst/>
            <a:ahLst/>
            <a:cxnLst/>
            <a:rect r="r" b="b" t="t" l="l"/>
            <a:pathLst>
              <a:path h="1273468" w="1661948">
                <a:moveTo>
                  <a:pt x="0" y="0"/>
                </a:moveTo>
                <a:lnTo>
                  <a:pt x="1661948" y="0"/>
                </a:lnTo>
                <a:lnTo>
                  <a:pt x="1661948" y="1273468"/>
                </a:lnTo>
                <a:lnTo>
                  <a:pt x="0" y="12734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62452" y="2725954"/>
            <a:ext cx="1661948" cy="1273468"/>
          </a:xfrm>
          <a:custGeom>
            <a:avLst/>
            <a:gdLst/>
            <a:ahLst/>
            <a:cxnLst/>
            <a:rect r="r" b="b" t="t" l="l"/>
            <a:pathLst>
              <a:path h="1273468" w="1661948">
                <a:moveTo>
                  <a:pt x="0" y="0"/>
                </a:moveTo>
                <a:lnTo>
                  <a:pt x="1661948" y="0"/>
                </a:lnTo>
                <a:lnTo>
                  <a:pt x="1661948" y="1273468"/>
                </a:lnTo>
                <a:lnTo>
                  <a:pt x="0" y="12734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462452" y="4990022"/>
            <a:ext cx="1661948" cy="1273468"/>
          </a:xfrm>
          <a:custGeom>
            <a:avLst/>
            <a:gdLst/>
            <a:ahLst/>
            <a:cxnLst/>
            <a:rect r="r" b="b" t="t" l="l"/>
            <a:pathLst>
              <a:path h="1273468" w="1661948">
                <a:moveTo>
                  <a:pt x="0" y="0"/>
                </a:moveTo>
                <a:lnTo>
                  <a:pt x="1661948" y="0"/>
                </a:lnTo>
                <a:lnTo>
                  <a:pt x="1661948" y="1273468"/>
                </a:lnTo>
                <a:lnTo>
                  <a:pt x="0" y="12734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175617" y="3107548"/>
            <a:ext cx="2116397" cy="78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3"/>
              </a:lnSpc>
            </a:pPr>
            <a:r>
              <a:rPr lang="en-US" sz="5173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70793" y="7515290"/>
            <a:ext cx="2116397" cy="78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3"/>
              </a:lnSpc>
            </a:pPr>
            <a:r>
              <a:rPr lang="en-US" sz="5173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19455" y="5359605"/>
            <a:ext cx="2116397" cy="78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3"/>
              </a:lnSpc>
            </a:pPr>
            <a:r>
              <a:rPr lang="en-US" sz="5173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82913" y="3107555"/>
            <a:ext cx="2116397" cy="78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3"/>
              </a:lnSpc>
            </a:pPr>
            <a:r>
              <a:rPr lang="en-US" sz="5173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67720" y="5359599"/>
            <a:ext cx="2116397" cy="78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3"/>
              </a:lnSpc>
            </a:pPr>
            <a:r>
              <a:rPr lang="en-US" sz="5173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3731" y="92302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DAF64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71426" y="2314697"/>
            <a:ext cx="11345148" cy="94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6"/>
              </a:lnSpc>
              <a:spcBef>
                <a:spcPct val="0"/>
              </a:spcBef>
            </a:pPr>
            <a:r>
              <a:rPr lang="en-US" sz="6852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FUTURE ENHANCEMENT_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1980682" y="6280965"/>
            <a:ext cx="14326636" cy="0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431812" y="4551945"/>
            <a:ext cx="1661948" cy="1273468"/>
          </a:xfrm>
          <a:custGeom>
            <a:avLst/>
            <a:gdLst/>
            <a:ahLst/>
            <a:cxnLst/>
            <a:rect r="r" b="b" t="t" l="l"/>
            <a:pathLst>
              <a:path h="1273468" w="1661948">
                <a:moveTo>
                  <a:pt x="0" y="0"/>
                </a:moveTo>
                <a:lnTo>
                  <a:pt x="1661948" y="0"/>
                </a:lnTo>
                <a:lnTo>
                  <a:pt x="1661948" y="1273468"/>
                </a:lnTo>
                <a:lnTo>
                  <a:pt x="0" y="1273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42370" y="4551945"/>
            <a:ext cx="1661948" cy="1273468"/>
          </a:xfrm>
          <a:custGeom>
            <a:avLst/>
            <a:gdLst/>
            <a:ahLst/>
            <a:cxnLst/>
            <a:rect r="r" b="b" t="t" l="l"/>
            <a:pathLst>
              <a:path h="1273468" w="1661948">
                <a:moveTo>
                  <a:pt x="0" y="0"/>
                </a:moveTo>
                <a:lnTo>
                  <a:pt x="1661948" y="0"/>
                </a:lnTo>
                <a:lnTo>
                  <a:pt x="1661948" y="1273468"/>
                </a:lnTo>
                <a:lnTo>
                  <a:pt x="0" y="12734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46852" y="6604815"/>
            <a:ext cx="1661948" cy="1273468"/>
          </a:xfrm>
          <a:custGeom>
            <a:avLst/>
            <a:gdLst/>
            <a:ahLst/>
            <a:cxnLst/>
            <a:rect r="r" b="b" t="t" l="l"/>
            <a:pathLst>
              <a:path h="1273468" w="1661948">
                <a:moveTo>
                  <a:pt x="0" y="0"/>
                </a:moveTo>
                <a:lnTo>
                  <a:pt x="1661948" y="0"/>
                </a:lnTo>
                <a:lnTo>
                  <a:pt x="1661948" y="1273468"/>
                </a:lnTo>
                <a:lnTo>
                  <a:pt x="0" y="12734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28620" y="6604815"/>
            <a:ext cx="1661948" cy="1273468"/>
          </a:xfrm>
          <a:custGeom>
            <a:avLst/>
            <a:gdLst/>
            <a:ahLst/>
            <a:cxnLst/>
            <a:rect r="r" b="b" t="t" l="l"/>
            <a:pathLst>
              <a:path h="1273468" w="1661948">
                <a:moveTo>
                  <a:pt x="0" y="0"/>
                </a:moveTo>
                <a:lnTo>
                  <a:pt x="1661948" y="0"/>
                </a:lnTo>
                <a:lnTo>
                  <a:pt x="1661948" y="1273468"/>
                </a:lnTo>
                <a:lnTo>
                  <a:pt x="0" y="12734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918620" y="4933539"/>
            <a:ext cx="2116397" cy="78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3"/>
              </a:lnSpc>
            </a:pPr>
            <a:r>
              <a:rPr lang="en-US" sz="5173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91079" y="4933539"/>
            <a:ext cx="2116397" cy="78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3"/>
              </a:lnSpc>
            </a:pPr>
            <a:r>
              <a:rPr lang="en-US" sz="5173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06739" y="6986409"/>
            <a:ext cx="2116397" cy="78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3"/>
              </a:lnSpc>
            </a:pPr>
            <a:r>
              <a:rPr lang="en-US" sz="5173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26607" y="6986409"/>
            <a:ext cx="2116397" cy="78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3"/>
              </a:lnSpc>
            </a:pPr>
            <a:r>
              <a:rPr lang="en-US" sz="5173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04</a:t>
            </a:r>
          </a:p>
        </p:txBody>
      </p:sp>
      <p:sp>
        <p:nvSpPr>
          <p:cNvPr name="AutoShape 21" id="21"/>
          <p:cNvSpPr/>
          <p:nvPr/>
        </p:nvSpPr>
        <p:spPr>
          <a:xfrm>
            <a:off x="3243736" y="6300015"/>
            <a:ext cx="0" cy="319049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0554294" y="6300015"/>
            <a:ext cx="0" cy="319049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6835477" y="5934320"/>
            <a:ext cx="0" cy="319049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4417245" y="5934320"/>
            <a:ext cx="0" cy="319049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757977" y="6765924"/>
            <a:ext cx="3051181" cy="70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2548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AI PROJECT </a:t>
            </a:r>
          </a:p>
          <a:p>
            <a:pPr algn="ctr" marL="0" indent="0" lvl="0">
              <a:lnSpc>
                <a:spcPts val="2548"/>
              </a:lnSpc>
            </a:pPr>
            <a:r>
              <a:rPr lang="en-US" sz="2548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MEMORIA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68535" y="6765924"/>
            <a:ext cx="3051181" cy="70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8"/>
              </a:lnSpc>
            </a:pPr>
            <a:r>
              <a:rPr lang="en-US" sz="2548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AI SCHEDULE COORDINATOR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09887" y="5096749"/>
            <a:ext cx="3051181" cy="70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8"/>
              </a:lnSpc>
            </a:pPr>
            <a:r>
              <a:rPr lang="en-US" sz="2548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LIFE EVENT PREDICTION ENGINE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91655" y="5096749"/>
            <a:ext cx="3051181" cy="70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8"/>
              </a:lnSpc>
            </a:pPr>
            <a:r>
              <a:rPr lang="en-US" sz="2548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VOICE MEMORY ENGINE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78759" y="7415553"/>
            <a:ext cx="3009617" cy="127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AI automatically records customer milestones and important notes from WhatsApp.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88697" y="7415553"/>
            <a:ext cx="3969294" cy="97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Reads customer appointment messages and checks the advisor’s calendar for available time slots.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51450" y="4397618"/>
            <a:ext cx="3009617" cy="66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Predicts customer needs before they arise.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91655" y="3991948"/>
            <a:ext cx="3009617" cy="97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Converts calls and voice notes into searchable knowledge.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3731" y="92302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3269" y="0"/>
            <a:ext cx="9588893" cy="10287000"/>
          </a:xfrm>
          <a:custGeom>
            <a:avLst/>
            <a:gdLst/>
            <a:ahLst/>
            <a:cxnLst/>
            <a:rect r="r" b="b" t="t" l="l"/>
            <a:pathLst>
              <a:path h="10287000" w="9588893">
                <a:moveTo>
                  <a:pt x="0" y="0"/>
                </a:moveTo>
                <a:lnTo>
                  <a:pt x="9588893" y="0"/>
                </a:lnTo>
                <a:lnTo>
                  <a:pt x="95888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8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130732"/>
            <a:ext cx="16230600" cy="8025536"/>
            <a:chOff x="0" y="0"/>
            <a:chExt cx="4274726" cy="21137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13721"/>
            </a:xfrm>
            <a:custGeom>
              <a:avLst/>
              <a:gdLst/>
              <a:ahLst/>
              <a:cxnLst/>
              <a:rect r="r" b="b" t="t" l="l"/>
              <a:pathLst>
                <a:path h="211372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13721"/>
                  </a:lnTo>
                  <a:lnTo>
                    <a:pt x="0" y="2113721"/>
                  </a:lnTo>
                  <a:close/>
                </a:path>
              </a:pathLst>
            </a:custGeom>
            <a:solidFill>
              <a:srgbClr val="FFF1A8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274726" cy="21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130732"/>
            <a:ext cx="16230600" cy="780061"/>
            <a:chOff x="0" y="0"/>
            <a:chExt cx="4274726" cy="2054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05448"/>
            </a:xfrm>
            <a:custGeom>
              <a:avLst/>
              <a:gdLst/>
              <a:ahLst/>
              <a:cxnLst/>
              <a:rect r="r" b="b" t="t" l="l"/>
              <a:pathLst>
                <a:path h="2054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5448"/>
                  </a:lnTo>
                  <a:lnTo>
                    <a:pt x="0" y="205448"/>
                  </a:lnTo>
                  <a:close/>
                </a:path>
              </a:pathLst>
            </a:custGeom>
            <a:solidFill>
              <a:srgbClr val="F0B2B7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195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19778" y="1290437"/>
            <a:ext cx="1375079" cy="460652"/>
          </a:xfrm>
          <a:custGeom>
            <a:avLst/>
            <a:gdLst/>
            <a:ahLst/>
            <a:cxnLst/>
            <a:rect r="r" b="b" t="t" l="l"/>
            <a:pathLst>
              <a:path h="460652" w="1375079">
                <a:moveTo>
                  <a:pt x="0" y="0"/>
                </a:moveTo>
                <a:lnTo>
                  <a:pt x="1375080" y="0"/>
                </a:lnTo>
                <a:lnTo>
                  <a:pt x="1375080" y="460652"/>
                </a:lnTo>
                <a:lnTo>
                  <a:pt x="0" y="4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0125" y="6009636"/>
            <a:ext cx="3133391" cy="2694716"/>
          </a:xfrm>
          <a:custGeom>
            <a:avLst/>
            <a:gdLst/>
            <a:ahLst/>
            <a:cxnLst/>
            <a:rect r="r" b="b" t="t" l="l"/>
            <a:pathLst>
              <a:path h="2694716" w="3133391">
                <a:moveTo>
                  <a:pt x="0" y="0"/>
                </a:moveTo>
                <a:lnTo>
                  <a:pt x="3133391" y="0"/>
                </a:lnTo>
                <a:lnTo>
                  <a:pt x="3133391" y="2694716"/>
                </a:lnTo>
                <a:lnTo>
                  <a:pt x="0" y="26947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68222" y="2804692"/>
            <a:ext cx="12951557" cy="281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8"/>
              </a:lnSpc>
            </a:pPr>
            <a:r>
              <a:rPr lang="en-US" sz="11605">
                <a:solidFill>
                  <a:srgbClr val="737373"/>
                </a:solidFill>
                <a:latin typeface="Retropix"/>
                <a:ea typeface="Retropix"/>
                <a:cs typeface="Retropix"/>
                <a:sym typeface="Retropix"/>
              </a:rPr>
              <a:t> LET'S THINK TOGETHER_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22964" y="7131734"/>
            <a:ext cx="8242073" cy="698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</a:pPr>
          </a:p>
          <a:p>
            <a:pPr algn="ctr" marL="0" indent="0" lvl="0">
              <a:lnSpc>
                <a:spcPts val="2600"/>
              </a:lnSpc>
            </a:pPr>
            <a:r>
              <a:rPr lang="en-US" sz="2000" spc="366" strike="noStrike" u="none">
                <a:solidFill>
                  <a:srgbClr val="737373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  DON KNOW I LOST A SHOE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415980" y="7927698"/>
            <a:ext cx="788482" cy="776655"/>
          </a:xfrm>
          <a:custGeom>
            <a:avLst/>
            <a:gdLst/>
            <a:ahLst/>
            <a:cxnLst/>
            <a:rect r="r" b="b" t="t" l="l"/>
            <a:pathLst>
              <a:path h="776655" w="788482">
                <a:moveTo>
                  <a:pt x="0" y="0"/>
                </a:moveTo>
                <a:lnTo>
                  <a:pt x="788482" y="0"/>
                </a:lnTo>
                <a:lnTo>
                  <a:pt x="788482" y="776654"/>
                </a:lnTo>
                <a:lnTo>
                  <a:pt x="0" y="776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74068" y="5805342"/>
            <a:ext cx="4539865" cy="408588"/>
          </a:xfrm>
          <a:custGeom>
            <a:avLst/>
            <a:gdLst/>
            <a:ahLst/>
            <a:cxnLst/>
            <a:rect r="r" b="b" t="t" l="l"/>
            <a:pathLst>
              <a:path h="408588" w="4539865">
                <a:moveTo>
                  <a:pt x="0" y="0"/>
                </a:moveTo>
                <a:lnTo>
                  <a:pt x="4539864" y="0"/>
                </a:lnTo>
                <a:lnTo>
                  <a:pt x="4539864" y="408588"/>
                </a:lnTo>
                <a:lnTo>
                  <a:pt x="0" y="408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DAHNGCJMLdI</dc:identifier>
  <dcterms:modified xsi:type="dcterms:W3CDTF">2011-08-01T06:04:30Z</dcterms:modified>
  <cp:revision>1</cp:revision>
  <dc:title>Pink and Gray Vintage Web UX Style Presentation</dc:title>
</cp:coreProperties>
</file>